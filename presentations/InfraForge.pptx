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6FC"/>
                </a:solidFill>
                <a:latin typeface="Segoe UI"/>
              </a:defRPr>
            </a:pPr>
            <a:r>
              <a:t>InfraForge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58A6FF"/>
                </a:solidFill>
                <a:latin typeface="Segoe UI"/>
              </a:defRPr>
            </a:pPr>
            <a:r>
              <a:t>Agentic Self-Service Infrastructure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Agents write the policies, generate the infrastructure code, test it, and deploy it — powered by the GitHub Copilot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03520" cy="219456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B72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⏳  App teams wait days-to-weeks for platform teams to write IaC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🔄  Every team reinvents patterns — inconsistent, insecure defaults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💸  Cost surprises after deployment, not before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🧱  No template reuse — written once, lost in repo sprawl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🚧  Governance bottleneck: security, compliance, policy reviews are manual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37360"/>
            <a:ext cx="5669280" cy="219456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745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The InfraForge Solution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🤖  Agents write IaC: ARM, Bicep &amp; Terraform from natural language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🛡️  Agents author policies: security, governance &amp; compliance auto-generated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🧪  Agents test &amp; validate: deploy to Azure, run tests, self-heal on failure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🚀  Agents deploy: ARM SDK deployment with live progress streaming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0F6FC"/>
                </a:solidFill>
                <a:latin typeface="Segoe UI"/>
              </a:rPr>
              <a:t>📚  Catalog-first: reuse approved templates, register new ones for the 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60520"/>
            <a:ext cx="2647873" cy="118872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70248"/>
            <a:ext cx="237355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Days → Minutes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Infrastructure</a:t>
            </a:r>
            <a:br/>
            <a:r>
              <a:t>Provisioning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3673" y="4160520"/>
            <a:ext cx="2647873" cy="118872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0833" y="4270248"/>
            <a:ext cx="237355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100% Automated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Governance &amp;</a:t>
            </a:r>
            <a:br/>
            <a:r>
              <a:t>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4160520"/>
            <a:ext cx="2647873" cy="118872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7" y="4270248"/>
            <a:ext cx="237355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C8CFF"/>
                </a:solidFill>
                <a:latin typeface="Segoe UI"/>
              </a:defRPr>
            </a:pPr>
            <a:r>
              <a:t>Zero Terraform</a:t>
            </a:r>
            <a:br/>
            <a:r>
              <a:t>Expertise Needed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Self-Service</a:t>
            </a:r>
            <a:br/>
            <a:r>
              <a:t>for App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6621" y="4160520"/>
            <a:ext cx="2647873" cy="118872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3781" y="4270248"/>
            <a:ext cx="237355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29E22"/>
                </a:solidFill>
                <a:latin typeface="Segoe UI"/>
              </a:defRPr>
            </a:pPr>
            <a:r>
              <a:t>Full Cost</a:t>
            </a:r>
            <a:br/>
            <a:r>
              <a:t>Transparency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Before</a:t>
            </a:r>
            <a:br/>
            <a:r>
              <a:t>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77840"/>
            <a:ext cx="11277295" cy="6400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Built With:  GitHub Copilot SDK  •  Microsoft Entra ID  •  Azure SQL  •  Azure ARM SDK  •  FastAPI  •  Work IQ  •  Microsoft Fabric  •  Claude (Anthropic)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681"/>
                </a:solidFill>
                <a:latin typeface="Segoe UI"/>
              </a:defRPr>
            </a:pPr>
            <a:r>
              <a:t>GitHub Copilot SDK Enterprise Challenge  |  March 2026  |  github.com/aharsan/InfraForge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6FC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5029200"/>
          </a:xfrm>
          <a:prstGeom prst="roundRect">
            <a:avLst>
              <a:gd name="adj" fmla="val 1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E7681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Web UI (SPA)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325880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CLI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325880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1A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BC8CFF"/>
                </a:solidFill>
                <a:latin typeface="Segoe UI"/>
              </a:rPr>
              <a:t>Entra ID (SSO)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.0" y="1783080"/>
            <a:ext cx="0.0" cy="18288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874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E7681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4937760" cy="457200"/>
          </a:xfrm>
          <a:prstGeom prst="roundRect">
            <a:avLst>
              <a:gd name="adj" fmla="val 4000"/>
            </a:avLst>
          </a:prstGeom>
          <a:solidFill>
            <a:srgbClr val="15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FB950"/>
                </a:solidFill>
                <a:latin typeface="Segoe UI"/>
              </a:rPr>
              <a:t>FastAPI  +  WebSocket Chat  +  Pipeline Engine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.0" y="2514600"/>
            <a:ext cx="0.0" cy="18288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606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E7681"/>
                </a:solidFill>
                <a:latin typeface="Segoe UI"/>
              </a:defRPr>
            </a:pPr>
            <a:r>
              <a:t>AGENTIC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88920"/>
            <a:ext cx="2400300" cy="548640"/>
          </a:xfrm>
          <a:prstGeom prst="roundRect">
            <a:avLst>
              <a:gd name="adj" fmla="val 4000"/>
            </a:avLst>
          </a:prstGeom>
          <a:solidFill>
            <a:srgbClr val="1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BC8CFF"/>
                </a:solidFill>
                <a:latin typeface="Segoe UI"/>
              </a:rPr>
              <a:t>GitHub Copilot SDK
(Model Router)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77540" y="2788920"/>
            <a:ext cx="2400300" cy="548640"/>
          </a:xfrm>
          <a:prstGeom prst="roundRect">
            <a:avLst>
              <a:gd name="adj" fmla="val 4000"/>
            </a:avLst>
          </a:prstGeom>
          <a:solidFill>
            <a:srgbClr val="1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FB950"/>
                </a:solidFill>
                <a:latin typeface="Segoe UI"/>
              </a:rPr>
              <a:t>16 Agent Tools
(Generate, Deploy, Govern, Cost...)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40380.0" y="3063240"/>
            <a:ext cx="137160.0" cy="0"/>
          </a:xfrm>
          <a:prstGeom prst="line">
            <a:avLst/>
          </a:prstGeom>
          <a:ln w="2540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08960.0" y="3337560"/>
            <a:ext cx="0.0" cy="18288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429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E7681"/>
                </a:solidFill>
                <a:latin typeface="Segoe UI"/>
              </a:defRPr>
            </a:pPr>
            <a:r>
              <a:t>DATA &amp; DEPLOY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11880"/>
            <a:ext cx="1554480" cy="54864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58A6FF"/>
                </a:solidFill>
                <a:latin typeface="Segoe UI"/>
              </a:rPr>
              <a:t>Azure SQL
(Catalog + Governance)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3611880"/>
            <a:ext cx="1554480" cy="548640"/>
          </a:xfrm>
          <a:prstGeom prst="roundRect">
            <a:avLst>
              <a:gd name="adj" fmla="val 4000"/>
            </a:avLst>
          </a:prstGeom>
          <a:solidFill>
            <a:srgbClr val="2A1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D29E22"/>
                </a:solidFill>
                <a:latin typeface="Segoe UI"/>
              </a:rPr>
              <a:t>ARM SDK
(What-If + Deploy)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611880"/>
            <a:ext cx="1554480" cy="548640"/>
          </a:xfrm>
          <a:prstGeom prst="roundRect">
            <a:avLst>
              <a:gd name="adj" fmla="val 4000"/>
            </a:avLst>
          </a:prstGeom>
          <a:solidFill>
            <a:srgbClr val="1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FB950"/>
                </a:solidFill>
                <a:latin typeface="Segoe UI"/>
              </a:rPr>
              <a:t>Microsoft Fabric
(Analytics)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19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E7681"/>
                </a:solidFill>
                <a:latin typeface="Segoe UI"/>
              </a:defRPr>
            </a:pPr>
            <a:r>
              <a:t>AGENTIC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74676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58A6FF"/>
                </a:solidFill>
                <a:latin typeface="Segoe UI"/>
              </a:rPr>
              <a:t>Govern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86840.0" y="4663440"/>
            <a:ext cx="91440.0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478280" y="4434840"/>
            <a:ext cx="74676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BC8CFF"/>
                </a:solidFill>
                <a:latin typeface="Segoe UI"/>
              </a:rPr>
              <a:t>Generate
ARM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25040.0" y="4663440"/>
            <a:ext cx="91440.0" cy="0"/>
          </a:xfrm>
          <a:prstGeom prst="line">
            <a:avLst/>
          </a:prstGeom>
          <a:ln w="25400">
            <a:solidFill>
              <a:srgbClr val="B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316480" y="4434840"/>
            <a:ext cx="74676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FB950"/>
                </a:solidFill>
                <a:latin typeface="Segoe UI"/>
              </a:rPr>
              <a:t>Generate
Policy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63240.0" y="4663440"/>
            <a:ext cx="91440.0" cy="0"/>
          </a:xfrm>
          <a:prstGeom prst="line">
            <a:avLst/>
          </a:prstGeom>
          <a:ln w="2540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154680" y="4434840"/>
            <a:ext cx="74676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D29E22"/>
                </a:solidFill>
                <a:latin typeface="Segoe UI"/>
              </a:rPr>
              <a:t>CISO
Review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01440.0" y="4663440"/>
            <a:ext cx="91440.0" cy="0"/>
          </a:xfrm>
          <a:prstGeom prst="line">
            <a:avLst/>
          </a:prstGeom>
          <a:ln w="25400">
            <a:solidFill>
              <a:srgbClr val="D29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92880" y="4434840"/>
            <a:ext cx="74676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58A6FF"/>
                </a:solidFill>
                <a:latin typeface="Segoe UI"/>
              </a:rPr>
              <a:t>Deploy
&amp; Heal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39640.0" y="4663440"/>
            <a:ext cx="91440.0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831080" y="4434840"/>
            <a:ext cx="746760" cy="457200"/>
          </a:xfrm>
          <a:prstGeom prst="roundRect">
            <a:avLst>
              <a:gd name="adj" fmla="val 4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3FB950"/>
                </a:solidFill>
                <a:latin typeface="Segoe UI"/>
              </a:rPr>
              <a:t>Test &amp;
Promote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1005840"/>
            <a:ext cx="5669280" cy="11201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097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Enterprise Value &amp; Reusability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1097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681"/>
                </a:solidFill>
                <a:latin typeface="Segoe UI"/>
              </a:defRPr>
            </a:pPr>
            <a:r>
              <a:t>30 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1371600"/>
            <a:ext cx="5212080" cy="662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Self-service for any team — zero IaC expertise needed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Catalog-first: approved templates reused across the org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Natural language intake replaces tickets &amp; wait times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308860"/>
            <a:ext cx="5669280" cy="11201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4003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C8CFF"/>
                </a:solidFill>
                <a:latin typeface="Segoe UI"/>
              </a:defRPr>
            </a:pPr>
            <a:r>
              <a:t>Azure &amp; Microsoft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24003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681"/>
                </a:solidFill>
                <a:latin typeface="Segoe UI"/>
              </a:defRPr>
            </a:pPr>
            <a:r>
              <a:t>25 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674620"/>
            <a:ext cx="5212080" cy="662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GitHub Copilot SDK — agentic AI engine with 16 tools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Entra ID SSO — identity-aware provisioning &amp; tagging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Azure SQL, ARM SDK, Azure Policy, Microsoft Fabric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3611880"/>
            <a:ext cx="5669280" cy="11201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703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Operational Readiness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3703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681"/>
                </a:solidFill>
                <a:latin typeface="Segoe UI"/>
              </a:defRPr>
            </a:pPr>
            <a:r>
              <a:t>15 pts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977640"/>
            <a:ext cx="5212080" cy="662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Self-healing deployment — auto-retry on ARM failures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Live deploy progress streaming via WebSocket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Full pipeline: govern → generate → test → promote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4914900"/>
            <a:ext cx="5669280" cy="112014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D29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0063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E22"/>
                </a:solidFill>
                <a:latin typeface="Segoe UI"/>
              </a:defRPr>
            </a:pPr>
            <a:r>
              <a:t>Security, Governance &amp; RAI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50063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E7681"/>
                </a:solidFill>
                <a:latin typeface="Segoe UI"/>
              </a:defRPr>
            </a:pPr>
            <a:r>
              <a:t>15 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280660"/>
            <a:ext cx="5212080" cy="662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Governance-first: agents check approval before generating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Virtual CISO reviews every onboarding for risk &amp; compliance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F0F6FC"/>
                </a:solidFill>
                <a:latin typeface="Segoe UI"/>
              </a:defRPr>
            </a:pPr>
            <a:r>
              <a:t>•  Policy engine enforces tags, naming, regions, SKUs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6217920"/>
            <a:ext cx="11277295" cy="5029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29107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Bonus:   Work IQ (+15 pts) — identity-aware tagging from Entra ID org hierarchy   •   Fabric IQ (+15 pts) — usage analytics synced to Fabric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681"/>
                </a:solidFill>
                <a:latin typeface="Segoe UI"/>
              </a:defRPr>
            </a:pPr>
            <a:r>
              <a:t>Repo: github.com/aharsan/InfraForge  |  GitHub Copilot SDK Enterprise Challenge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